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0413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talk presents the project as a complete PHM application, not just a benchmark model. The key idea is to connect prediction, decision logic, and user-facing traceability in one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motivation slide. A low error score is useful, but it still does not tell an operator how confident the system is, what action to take, or how to audit the decision. That gap is what this project addresses.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C-MAPSS gives us degradation trajectories at the engine-unit level. Each row combines cycle context, operational settings, and sensors, and the task is to estimate remaining useful life before failure.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system-level contribution in one line. The predictive layer estimates RUL, the agent layer turns that into deterministic decision support, and the dashboard exposes both operator and audit views.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main predictive insight of the project. Even though GRU had the best benchmark score, RF was the better deployed choice because the system also had to satisfy stability and operational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agent layer is what turns model output into something operationally meaningful. Importantly, the logic is deterministic, and the LLM is only optional support for interpretation rather than the source of truth.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dashboard is where the three-layer architecture becomes visible to users. It exposes a fast decision view, a deeper explanation layer, deterministic scenario comparisons, and a technical audit path.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reinforces the central result from a system perspective. A deployable PHM system has to optimize for more than leaderboard performance, and that is why the final model choice differs from the best raw benchmark model.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analysis is useful because it shows how the deployed model responds to controlled changes. In some cases the effect is very small, which tells us that the edited variables are locally insensitive or not central to the deployed model behavior.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takeaway is that this project combines scientific modeling with engineering deployment discipline. What matters is not only predicting RUL, but making that prediction usable, explainable, and auditable in a real PHM workflow.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Traceable Predictive Maintenance for NASA C-MAPSS</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4-minute overview of the deployed PHM application</a:t>
            </a:r>
          </a:p>
        </p:txBody>
      </p:sp>
      <p:sp>
        <p:nvSpPr>
          <p:cNvPr id="4" name="TextBox 3"/>
          <p:cNvSpPr txBox="1"/>
          <p:nvPr/>
        </p:nvSpPr>
        <p:spPr>
          <a:xfrm>
            <a:off x="777240" y="1645920"/>
            <a:ext cx="6492240" cy="2560320"/>
          </a:xfrm>
          <a:prstGeom prst="rect">
            <a:avLst/>
          </a:prstGeom>
          <a:noFill/>
        </p:spPr>
        <p:txBody>
          <a:bodyPr wrap="square">
            <a:spAutoFit/>
          </a:bodyPr>
          <a:lstStyle/>
          <a:p>
            <a:pPr>
              <a:spcAft>
                <a:spcPts val="900"/>
              </a:spcAft>
              <a:defRPr sz="2000">
                <a:solidFill>
                  <a:srgbClr val="1C2434"/>
                </a:solidFill>
              </a:defRPr>
            </a:pPr>
            <a:r>
              <a:t>Benchmark: NASA C-MAPSS turbofan degradation</a:t>
            </a:r>
          </a:p>
          <a:p>
            <a:pPr>
              <a:spcAft>
                <a:spcPts val="900"/>
              </a:spcAft>
              <a:defRPr sz="2000">
                <a:solidFill>
                  <a:srgbClr val="1C2434"/>
                </a:solidFill>
              </a:defRPr>
            </a:pPr>
            <a:r>
              <a:t>Goal: turn RUL prediction into usable PHM decisions</a:t>
            </a:r>
          </a:p>
          <a:p>
            <a:pPr>
              <a:spcAft>
                <a:spcPts val="900"/>
              </a:spcAft>
              <a:defRPr sz="2000">
                <a:solidFill>
                  <a:srgbClr val="1C2434"/>
                </a:solidFill>
              </a:defRPr>
            </a:pPr>
            <a:r>
              <a:t>Focus: deployment, traceability, and system integration</a:t>
            </a:r>
          </a:p>
        </p:txBody>
      </p:sp>
      <p:sp>
        <p:nvSpPr>
          <p:cNvPr id="5" name="Rounded Rectangle 4"/>
          <p:cNvSpPr/>
          <p:nvPr/>
        </p:nvSpPr>
        <p:spPr>
          <a:xfrm>
            <a:off x="7818120" y="1828800"/>
            <a:ext cx="3383280" cy="1828800"/>
          </a:xfrm>
          <a:prstGeom prst="roundRect">
            <a:avLst/>
          </a:prstGeom>
          <a:solidFill>
            <a:srgbClr val="FFFFFF"/>
          </a:solidFill>
          <a:ln w="25400">
            <a:solidFill>
              <a:srgbClr val="875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875C24"/>
                </a:solidFill>
              </a:rPr>
              <a:t>CMAPSS
PHM App</a:t>
            </a:r>
          </a:p>
        </p:txBody>
      </p:sp>
      <p:sp>
        <p:nvSpPr>
          <p:cNvPr id="6" name="Rounded Rectangle 5"/>
          <p:cNvSpPr/>
          <p:nvPr/>
        </p:nvSpPr>
        <p:spPr>
          <a:xfrm>
            <a:off x="8183879" y="3977639"/>
            <a:ext cx="2651760" cy="411480"/>
          </a:xfrm>
          <a:prstGeom prst="roundRect">
            <a:avLst/>
          </a:prstGeom>
          <a:solidFill>
            <a:srgbClr val="146F69"/>
          </a:solidFill>
          <a:ln>
            <a:solidFill>
              <a:srgbClr val="146F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PE" sz="1400" b="1" dirty="0">
                <a:solidFill>
                  <a:srgbClr val="FFFFFF"/>
                </a:solidFill>
              </a:rPr>
              <a:t>April 2026</a:t>
            </a:r>
            <a:endParaRPr sz="1400" b="1" dirty="0">
              <a:solidFill>
                <a:srgbClr val="FFFFFF"/>
              </a:solidFill>
            </a:endParaRPr>
          </a:p>
        </p:txBody>
      </p:sp>
      <p:sp>
        <p:nvSpPr>
          <p:cNvPr id="7" name="TextBox 6"/>
          <p:cNvSpPr txBox="1"/>
          <p:nvPr/>
        </p:nvSpPr>
        <p:spPr>
          <a:xfrm>
            <a:off x="502920" y="6446520"/>
            <a:ext cx="10972800" cy="182880"/>
          </a:xfrm>
          <a:prstGeom prst="rect">
            <a:avLst/>
          </a:prstGeom>
          <a:noFill/>
        </p:spPr>
        <p:txBody>
          <a:bodyPr wrap="none">
            <a:spAutoFit/>
          </a:bodyPr>
          <a:lstStyle/>
          <a:p>
            <a:r>
              <a:rPr sz="900">
                <a:solidFill>
                  <a:srgbClr val="656D78"/>
                </a:solidFill>
              </a:rPr>
              <a:t>Slide 1 | Sources: doc/paper/main.tex; README.md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Problem</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Why benchmark prediction alone is not enough</a:t>
            </a:r>
          </a:p>
        </p:txBody>
      </p:sp>
      <p:sp>
        <p:nvSpPr>
          <p:cNvPr id="4" name="TextBox 3"/>
          <p:cNvSpPr txBox="1"/>
          <p:nvPr/>
        </p:nvSpPr>
        <p:spPr>
          <a:xfrm>
            <a:off x="685800" y="1508760"/>
            <a:ext cx="4480560" cy="3474720"/>
          </a:xfrm>
          <a:prstGeom prst="rect">
            <a:avLst/>
          </a:prstGeom>
          <a:noFill/>
        </p:spPr>
        <p:txBody>
          <a:bodyPr wrap="square">
            <a:spAutoFit/>
          </a:bodyPr>
          <a:lstStyle/>
          <a:p>
            <a:pPr>
              <a:spcAft>
                <a:spcPts val="900"/>
              </a:spcAft>
              <a:defRPr sz="2000">
                <a:solidFill>
                  <a:srgbClr val="1C2434"/>
                </a:solidFill>
              </a:defRPr>
            </a:pPr>
            <a:r>
              <a:t>Benchmark RUL models produce point predictions.</a:t>
            </a:r>
          </a:p>
          <a:p>
            <a:pPr>
              <a:spcAft>
                <a:spcPts val="900"/>
              </a:spcAft>
              <a:defRPr sz="2000">
                <a:solidFill>
                  <a:srgbClr val="1C2434"/>
                </a:solidFill>
              </a:defRPr>
            </a:pPr>
            <a:r>
              <a:t>Real PHM systems also need uncertainty, decision logic, and traceability.</a:t>
            </a:r>
          </a:p>
          <a:p>
            <a:pPr>
              <a:spcAft>
                <a:spcPts val="900"/>
              </a:spcAft>
              <a:defRPr sz="2000">
                <a:solidFill>
                  <a:srgbClr val="1C2434"/>
                </a:solidFill>
              </a:defRPr>
            </a:pPr>
            <a:r>
              <a:t>Prediction alone is NOT sufficient for PHM deployment.</a:t>
            </a:r>
          </a:p>
        </p:txBody>
      </p:sp>
      <p:pic>
        <p:nvPicPr>
          <p:cNvPr id="5" name="Picture 4" descr="problem_diagram.png"/>
          <p:cNvPicPr>
            <a:picLocks noChangeAspect="1"/>
          </p:cNvPicPr>
          <p:nvPr/>
        </p:nvPicPr>
        <p:blipFill>
          <a:blip r:embed="rId3"/>
          <a:stretch>
            <a:fillRect/>
          </a:stretch>
        </p:blipFill>
        <p:spPr>
          <a:xfrm>
            <a:off x="5440680" y="1417320"/>
            <a:ext cx="6126480" cy="2492127"/>
          </a:xfrm>
          <a:prstGeom prst="rect">
            <a:avLst/>
          </a:prstGeom>
        </p:spPr>
      </p:pic>
      <p:sp>
        <p:nvSpPr>
          <p:cNvPr id="6" name="Rounded Rectangle 5"/>
          <p:cNvSpPr/>
          <p:nvPr/>
        </p:nvSpPr>
        <p:spPr>
          <a:xfrm>
            <a:off x="731520" y="5166360"/>
            <a:ext cx="4389120" cy="411480"/>
          </a:xfrm>
          <a:prstGeom prst="roundRect">
            <a:avLst/>
          </a:prstGeom>
          <a:solidFill>
            <a:srgbClr val="B54141"/>
          </a:solidFill>
          <a:ln>
            <a:solidFill>
              <a:srgbClr val="B5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NOT sufficient for PHM deployment</a:t>
            </a:r>
          </a:p>
        </p:txBody>
      </p:sp>
      <p:sp>
        <p:nvSpPr>
          <p:cNvPr id="7" name="TextBox 6"/>
          <p:cNvSpPr txBox="1"/>
          <p:nvPr/>
        </p:nvSpPr>
        <p:spPr>
          <a:xfrm>
            <a:off x="502920" y="6446520"/>
            <a:ext cx="10972800" cy="182880"/>
          </a:xfrm>
          <a:prstGeom prst="rect">
            <a:avLst/>
          </a:prstGeom>
          <a:noFill/>
        </p:spPr>
        <p:txBody>
          <a:bodyPr wrap="none">
            <a:spAutoFit/>
          </a:bodyPr>
          <a:lstStyle/>
          <a:p>
            <a:r>
              <a:rPr sz="900">
                <a:solidFill>
                  <a:srgbClr val="656D78"/>
                </a:solidFill>
              </a:rPr>
              <a:t>Slide 2 | Sources: doc/ppt/02_slide_content_4m.md; doc/paper/04_discussion.md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Task Context</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NASA C-MAPSS defines the prediction setting</a:t>
            </a:r>
          </a:p>
        </p:txBody>
      </p:sp>
      <p:sp>
        <p:nvSpPr>
          <p:cNvPr id="4" name="TextBox 3"/>
          <p:cNvSpPr txBox="1"/>
          <p:nvPr/>
        </p:nvSpPr>
        <p:spPr>
          <a:xfrm>
            <a:off x="777240" y="1554480"/>
            <a:ext cx="9875520" cy="4389120"/>
          </a:xfrm>
          <a:prstGeom prst="rect">
            <a:avLst/>
          </a:prstGeom>
          <a:noFill/>
        </p:spPr>
        <p:txBody>
          <a:bodyPr wrap="square">
            <a:spAutoFit/>
          </a:bodyPr>
          <a:lstStyle/>
          <a:p>
            <a:pPr>
              <a:spcAft>
                <a:spcPts val="900"/>
              </a:spcAft>
              <a:defRPr sz="2000">
                <a:solidFill>
                  <a:srgbClr val="1C2434"/>
                </a:solidFill>
              </a:defRPr>
            </a:pPr>
            <a:r>
              <a:t>Run-to-failure engine trajectories</a:t>
            </a:r>
          </a:p>
          <a:p>
            <a:pPr>
              <a:spcAft>
                <a:spcPts val="900"/>
              </a:spcAft>
              <a:defRPr sz="2000">
                <a:solidFill>
                  <a:srgbClr val="1C2434"/>
                </a:solidFill>
              </a:defRPr>
            </a:pPr>
            <a:r>
              <a:t>Multivariate sensor + operational data</a:t>
            </a:r>
          </a:p>
          <a:p>
            <a:pPr>
              <a:spcAft>
                <a:spcPts val="900"/>
              </a:spcAft>
              <a:defRPr sz="2000">
                <a:solidFill>
                  <a:srgbClr val="1C2434"/>
                </a:solidFill>
              </a:defRPr>
            </a:pPr>
            <a:r>
              <a:t>Goal: predict Remaining Useful Life</a:t>
            </a:r>
          </a:p>
        </p:txBody>
      </p:sp>
      <p:sp>
        <p:nvSpPr>
          <p:cNvPr id="5" name="TextBox 4"/>
          <p:cNvSpPr txBox="1"/>
          <p:nvPr/>
        </p:nvSpPr>
        <p:spPr>
          <a:xfrm>
            <a:off x="502920" y="6446520"/>
            <a:ext cx="10972800" cy="182880"/>
          </a:xfrm>
          <a:prstGeom prst="rect">
            <a:avLst/>
          </a:prstGeom>
          <a:noFill/>
        </p:spPr>
        <p:txBody>
          <a:bodyPr wrap="none">
            <a:spAutoFit/>
          </a:bodyPr>
          <a:lstStyle/>
          <a:p>
            <a:r>
              <a:rPr sz="900">
                <a:solidFill>
                  <a:srgbClr val="656D78"/>
                </a:solidFill>
              </a:rPr>
              <a:t>Slide 3 | Sources: data/readme.txt; doc/paper/main.tex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System Idea</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Not just a model, but a system</a:t>
            </a:r>
          </a:p>
        </p:txBody>
      </p:sp>
      <p:sp>
        <p:nvSpPr>
          <p:cNvPr id="4" name="TextBox 3"/>
          <p:cNvSpPr txBox="1"/>
          <p:nvPr/>
        </p:nvSpPr>
        <p:spPr>
          <a:xfrm>
            <a:off x="685800" y="1554480"/>
            <a:ext cx="4389120" cy="3566160"/>
          </a:xfrm>
          <a:prstGeom prst="rect">
            <a:avLst/>
          </a:prstGeom>
          <a:noFill/>
        </p:spPr>
        <p:txBody>
          <a:bodyPr wrap="square">
            <a:spAutoFit/>
          </a:bodyPr>
          <a:lstStyle/>
          <a:p>
            <a:pPr>
              <a:spcAft>
                <a:spcPts val="900"/>
              </a:spcAft>
              <a:defRPr sz="2000">
                <a:solidFill>
                  <a:srgbClr val="1C2434"/>
                </a:solidFill>
              </a:defRPr>
            </a:pPr>
            <a:r>
              <a:t>Predictive → Agent → Dashboard</a:t>
            </a:r>
          </a:p>
          <a:p>
            <a:pPr>
              <a:spcAft>
                <a:spcPts val="900"/>
              </a:spcAft>
              <a:defRPr sz="2000">
                <a:solidFill>
                  <a:srgbClr val="1C2434"/>
                </a:solidFill>
              </a:defRPr>
            </a:pPr>
            <a:r>
              <a:t>Predictive: RUL + confidence</a:t>
            </a:r>
          </a:p>
          <a:p>
            <a:pPr>
              <a:spcAft>
                <a:spcPts val="900"/>
              </a:spcAft>
              <a:defRPr sz="2000">
                <a:solidFill>
                  <a:srgbClr val="1C2434"/>
                </a:solidFill>
              </a:defRPr>
            </a:pPr>
            <a:r>
              <a:t>Agent: risk + recommendation</a:t>
            </a:r>
          </a:p>
          <a:p>
            <a:pPr>
              <a:spcAft>
                <a:spcPts val="900"/>
              </a:spcAft>
              <a:defRPr sz="2000">
                <a:solidFill>
                  <a:srgbClr val="1C2434"/>
                </a:solidFill>
              </a:defRPr>
            </a:pPr>
            <a:r>
              <a:t>Dashboard: user + audit</a:t>
            </a:r>
          </a:p>
        </p:txBody>
      </p:sp>
      <p:pic>
        <p:nvPicPr>
          <p:cNvPr id="5" name="Picture 4" descr="architecture_diagram.png"/>
          <p:cNvPicPr>
            <a:picLocks noChangeAspect="1"/>
          </p:cNvPicPr>
          <p:nvPr/>
        </p:nvPicPr>
        <p:blipFill>
          <a:blip r:embed="rId3"/>
          <a:stretch>
            <a:fillRect/>
          </a:stretch>
        </p:blipFill>
        <p:spPr>
          <a:xfrm>
            <a:off x="5394960" y="1371600"/>
            <a:ext cx="6035040" cy="2437405"/>
          </a:xfrm>
          <a:prstGeom prst="rect">
            <a:avLst/>
          </a:prstGeom>
        </p:spPr>
      </p:pic>
      <p:sp>
        <p:nvSpPr>
          <p:cNvPr id="6" name="Rounded Rectangle 5"/>
          <p:cNvSpPr/>
          <p:nvPr/>
        </p:nvSpPr>
        <p:spPr>
          <a:xfrm>
            <a:off x="5943600" y="5257800"/>
            <a:ext cx="4572000" cy="411480"/>
          </a:xfrm>
          <a:prstGeom prst="roundRect">
            <a:avLst/>
          </a:prstGeom>
          <a:solidFill>
            <a:srgbClr val="146F69"/>
          </a:solidFill>
          <a:ln>
            <a:solidFill>
              <a:srgbClr val="146F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Predictive → Agent → Dashboard</a:t>
            </a:r>
          </a:p>
        </p:txBody>
      </p:sp>
      <p:sp>
        <p:nvSpPr>
          <p:cNvPr id="7" name="TextBox 6"/>
          <p:cNvSpPr txBox="1"/>
          <p:nvPr/>
        </p:nvSpPr>
        <p:spPr>
          <a:xfrm>
            <a:off x="502920" y="6446520"/>
            <a:ext cx="10972800" cy="182880"/>
          </a:xfrm>
          <a:prstGeom prst="rect">
            <a:avLst/>
          </a:prstGeom>
          <a:noFill/>
        </p:spPr>
        <p:txBody>
          <a:bodyPr wrap="none">
            <a:spAutoFit/>
          </a:bodyPr>
          <a:lstStyle/>
          <a:p>
            <a:r>
              <a:rPr sz="900">
                <a:solidFill>
                  <a:srgbClr val="656D78"/>
                </a:solidFill>
              </a:rPr>
              <a:t>Slide 4 | Sources: doc/paper/main.tex; out/dashboard_layer/01_ui_backend_contract_v1.json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Predictive Layer</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Best model ≠ deployed model</a:t>
            </a:r>
          </a:p>
        </p:txBody>
      </p:sp>
      <p:sp>
        <p:nvSpPr>
          <p:cNvPr id="4" name="TextBox 3"/>
          <p:cNvSpPr txBox="1"/>
          <p:nvPr/>
        </p:nvSpPr>
        <p:spPr>
          <a:xfrm>
            <a:off x="685800" y="1463040"/>
            <a:ext cx="4251960" cy="3749039"/>
          </a:xfrm>
          <a:prstGeom prst="rect">
            <a:avLst/>
          </a:prstGeom>
          <a:noFill/>
        </p:spPr>
        <p:txBody>
          <a:bodyPr wrap="square">
            <a:spAutoFit/>
          </a:bodyPr>
          <a:lstStyle/>
          <a:p>
            <a:pPr>
              <a:spcAft>
                <a:spcPts val="900"/>
              </a:spcAft>
              <a:defRPr sz="2000">
                <a:solidFill>
                  <a:srgbClr val="1C2434"/>
                </a:solidFill>
              </a:defRPr>
            </a:pPr>
            <a:r>
              <a:t>Multiple models tested: RF, HGB, LSTM, GRU</a:t>
            </a:r>
          </a:p>
          <a:p>
            <a:pPr>
              <a:spcAft>
                <a:spcPts val="900"/>
              </a:spcAft>
              <a:defRPr sz="2000">
                <a:solidFill>
                  <a:srgbClr val="1C2434"/>
                </a:solidFill>
              </a:defRPr>
            </a:pPr>
            <a:r>
              <a:t>GRU achieved the best raw RMSE</a:t>
            </a:r>
          </a:p>
          <a:p>
            <a:pPr>
              <a:spcAft>
                <a:spcPts val="900"/>
              </a:spcAft>
              <a:defRPr sz="2000">
                <a:solidFill>
                  <a:srgbClr val="1C2434"/>
                </a:solidFill>
              </a:defRPr>
            </a:pPr>
            <a:r>
              <a:t>RF was deployed as champion</a:t>
            </a:r>
          </a:p>
          <a:p>
            <a:pPr>
              <a:spcAft>
                <a:spcPts val="900"/>
              </a:spcAft>
              <a:defRPr sz="2000">
                <a:solidFill>
                  <a:srgbClr val="1C2434"/>
                </a:solidFill>
              </a:defRPr>
            </a:pPr>
            <a:r>
              <a:t>Deployment needs stability, latency, and robustness</a:t>
            </a:r>
          </a:p>
        </p:txBody>
      </p:sp>
      <p:pic>
        <p:nvPicPr>
          <p:cNvPr id="5" name="Picture 4" descr="model_tradeoff.png"/>
          <p:cNvPicPr>
            <a:picLocks noChangeAspect="1"/>
          </p:cNvPicPr>
          <p:nvPr/>
        </p:nvPicPr>
        <p:blipFill>
          <a:blip r:embed="rId3"/>
          <a:stretch>
            <a:fillRect/>
          </a:stretch>
        </p:blipFill>
        <p:spPr>
          <a:xfrm>
            <a:off x="5303520" y="1417320"/>
            <a:ext cx="6126480" cy="3579882"/>
          </a:xfrm>
          <a:prstGeom prst="rect">
            <a:avLst/>
          </a:prstGeom>
        </p:spPr>
      </p:pic>
      <p:sp>
        <p:nvSpPr>
          <p:cNvPr id="6" name="Rounded Rectangle 5"/>
          <p:cNvSpPr/>
          <p:nvPr/>
        </p:nvSpPr>
        <p:spPr>
          <a:xfrm>
            <a:off x="5989320" y="5257800"/>
            <a:ext cx="4114800" cy="411480"/>
          </a:xfrm>
          <a:prstGeom prst="roundRect">
            <a:avLst/>
          </a:prstGeom>
          <a:solidFill>
            <a:srgbClr val="B54141"/>
          </a:solidFill>
          <a:ln>
            <a:solidFill>
              <a:srgbClr val="B5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Best model ≠ deployed model</a:t>
            </a:r>
          </a:p>
        </p:txBody>
      </p:sp>
      <p:sp>
        <p:nvSpPr>
          <p:cNvPr id="7" name="TextBox 6"/>
          <p:cNvSpPr txBox="1"/>
          <p:nvPr/>
        </p:nvSpPr>
        <p:spPr>
          <a:xfrm>
            <a:off x="502920" y="6446520"/>
            <a:ext cx="10972800" cy="182880"/>
          </a:xfrm>
          <a:prstGeom prst="rect">
            <a:avLst/>
          </a:prstGeom>
          <a:noFill/>
        </p:spPr>
        <p:txBody>
          <a:bodyPr wrap="none">
            <a:spAutoFit/>
          </a:bodyPr>
          <a:lstStyle/>
          <a:p>
            <a:r>
              <a:rPr sz="900">
                <a:solidFill>
                  <a:srgbClr val="656D78"/>
                </a:solidFill>
              </a:rPr>
              <a:t>Slide 5 | Sources: out/predictive_layer/champion_record.json; out/predictive_layer/04_metrics_global_by_model.csv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Agent Layer</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Prediction becomes decision support</a:t>
            </a:r>
          </a:p>
        </p:txBody>
      </p:sp>
      <p:sp>
        <p:nvSpPr>
          <p:cNvPr id="4" name="TextBox 3"/>
          <p:cNvSpPr txBox="1"/>
          <p:nvPr/>
        </p:nvSpPr>
        <p:spPr>
          <a:xfrm>
            <a:off x="777240" y="1554480"/>
            <a:ext cx="9875520" cy="4389120"/>
          </a:xfrm>
          <a:prstGeom prst="rect">
            <a:avLst/>
          </a:prstGeom>
          <a:noFill/>
        </p:spPr>
        <p:txBody>
          <a:bodyPr wrap="square">
            <a:spAutoFit/>
          </a:bodyPr>
          <a:lstStyle/>
          <a:p>
            <a:pPr>
              <a:spcAft>
                <a:spcPts val="900"/>
              </a:spcAft>
              <a:defRPr sz="2000">
                <a:solidFill>
                  <a:srgbClr val="1C2434"/>
                </a:solidFill>
              </a:defRPr>
            </a:pPr>
            <a:r>
              <a:t>Inputs: RUL, confidence, service status</a:t>
            </a:r>
          </a:p>
          <a:p>
            <a:pPr>
              <a:spcAft>
                <a:spcPts val="900"/>
              </a:spcAft>
              <a:defRPr sz="2000">
                <a:solidFill>
                  <a:srgbClr val="1C2434"/>
                </a:solidFill>
              </a:defRPr>
            </a:pPr>
            <a:r>
              <a:t>Outputs: risk level, risk score, recommendation</a:t>
            </a:r>
          </a:p>
          <a:p>
            <a:pPr>
              <a:spcAft>
                <a:spcPts val="900"/>
              </a:spcAft>
              <a:defRPr sz="2000">
                <a:solidFill>
                  <a:srgbClr val="1C2434"/>
                </a:solidFill>
              </a:defRPr>
            </a:pPr>
            <a:r>
              <a:t>Deterministic and auditable</a:t>
            </a:r>
          </a:p>
          <a:p>
            <a:pPr>
              <a:spcAft>
                <a:spcPts val="900"/>
              </a:spcAft>
              <a:defRPr sz="2000">
                <a:solidFill>
                  <a:srgbClr val="1C2434"/>
                </a:solidFill>
              </a:defRPr>
            </a:pPr>
            <a:r>
              <a:t>LLM optional, never controls decisions</a:t>
            </a:r>
          </a:p>
        </p:txBody>
      </p:sp>
      <p:sp>
        <p:nvSpPr>
          <p:cNvPr id="5" name="TextBox 4"/>
          <p:cNvSpPr txBox="1"/>
          <p:nvPr/>
        </p:nvSpPr>
        <p:spPr>
          <a:xfrm>
            <a:off x="502920" y="6446520"/>
            <a:ext cx="10972800" cy="182880"/>
          </a:xfrm>
          <a:prstGeom prst="rect">
            <a:avLst/>
          </a:prstGeom>
          <a:noFill/>
        </p:spPr>
        <p:txBody>
          <a:bodyPr wrap="none">
            <a:spAutoFit/>
          </a:bodyPr>
          <a:lstStyle/>
          <a:p>
            <a:r>
              <a:rPr sz="900">
                <a:solidFill>
                  <a:srgbClr val="656D78"/>
                </a:solidFill>
              </a:rPr>
              <a:t>Slide 6 | Sources: src/agent_layer/risk_engine.py; src/agent_layer/orchestrator.py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Dashboard</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The integrated user-facing system</a:t>
            </a:r>
          </a:p>
        </p:txBody>
      </p:sp>
      <p:sp>
        <p:nvSpPr>
          <p:cNvPr id="4" name="TextBox 3"/>
          <p:cNvSpPr txBox="1"/>
          <p:nvPr/>
        </p:nvSpPr>
        <p:spPr>
          <a:xfrm>
            <a:off x="466344" y="1417320"/>
            <a:ext cx="2505456" cy="4632037"/>
          </a:xfrm>
          <a:prstGeom prst="rect">
            <a:avLst/>
          </a:prstGeom>
          <a:noFill/>
        </p:spPr>
        <p:txBody>
          <a:bodyPr wrap="square">
            <a:spAutoFit/>
          </a:bodyPr>
          <a:lstStyle/>
          <a:p>
            <a:pPr>
              <a:spcAft>
                <a:spcPts val="900"/>
              </a:spcAft>
              <a:defRPr sz="2000">
                <a:solidFill>
                  <a:srgbClr val="1C2434"/>
                </a:solidFill>
              </a:defRPr>
            </a:pPr>
            <a:r>
              <a:rPr dirty="0"/>
              <a:t>Summary </a:t>
            </a:r>
            <a:endParaRPr lang="es-PE" dirty="0"/>
          </a:p>
          <a:p>
            <a:pPr>
              <a:spcAft>
                <a:spcPts val="900"/>
              </a:spcAft>
              <a:defRPr sz="2000">
                <a:solidFill>
                  <a:srgbClr val="1C2434"/>
                </a:solidFill>
              </a:defRPr>
            </a:pPr>
            <a:r>
              <a:rPr dirty="0"/>
              <a:t>→ decision</a:t>
            </a:r>
          </a:p>
          <a:p>
            <a:pPr>
              <a:spcAft>
                <a:spcPts val="900"/>
              </a:spcAft>
              <a:defRPr sz="2000">
                <a:solidFill>
                  <a:srgbClr val="1C2434"/>
                </a:solidFill>
              </a:defRPr>
            </a:pPr>
            <a:endParaRPr lang="es-PE" dirty="0"/>
          </a:p>
          <a:p>
            <a:pPr>
              <a:spcAft>
                <a:spcPts val="900"/>
              </a:spcAft>
              <a:defRPr sz="2000">
                <a:solidFill>
                  <a:srgbClr val="1C2434"/>
                </a:solidFill>
              </a:defRPr>
            </a:pPr>
            <a:r>
              <a:rPr dirty="0"/>
              <a:t>Analysis </a:t>
            </a:r>
            <a:endParaRPr lang="es-PE" dirty="0"/>
          </a:p>
          <a:p>
            <a:pPr>
              <a:spcAft>
                <a:spcPts val="900"/>
              </a:spcAft>
              <a:defRPr sz="2000">
                <a:solidFill>
                  <a:srgbClr val="1C2434"/>
                </a:solidFill>
              </a:defRPr>
            </a:pPr>
            <a:r>
              <a:rPr dirty="0"/>
              <a:t>→ uncertainty</a:t>
            </a:r>
          </a:p>
          <a:p>
            <a:pPr>
              <a:spcAft>
                <a:spcPts val="900"/>
              </a:spcAft>
              <a:defRPr sz="2000">
                <a:solidFill>
                  <a:srgbClr val="1C2434"/>
                </a:solidFill>
              </a:defRPr>
            </a:pPr>
            <a:endParaRPr lang="es-PE" dirty="0"/>
          </a:p>
          <a:p>
            <a:pPr>
              <a:spcAft>
                <a:spcPts val="900"/>
              </a:spcAft>
              <a:defRPr sz="2000">
                <a:solidFill>
                  <a:srgbClr val="1C2434"/>
                </a:solidFill>
              </a:defRPr>
            </a:pPr>
            <a:r>
              <a:rPr dirty="0"/>
              <a:t>Scenarios </a:t>
            </a:r>
            <a:endParaRPr lang="es-PE" dirty="0"/>
          </a:p>
          <a:p>
            <a:pPr>
              <a:spcAft>
                <a:spcPts val="900"/>
              </a:spcAft>
              <a:defRPr sz="2000">
                <a:solidFill>
                  <a:srgbClr val="1C2434"/>
                </a:solidFill>
              </a:defRPr>
            </a:pPr>
            <a:r>
              <a:rPr dirty="0"/>
              <a:t>→ what-if comparison</a:t>
            </a:r>
          </a:p>
          <a:p>
            <a:pPr>
              <a:spcAft>
                <a:spcPts val="900"/>
              </a:spcAft>
              <a:defRPr sz="2000">
                <a:solidFill>
                  <a:srgbClr val="1C2434"/>
                </a:solidFill>
              </a:defRPr>
            </a:pPr>
            <a:endParaRPr lang="es-PE" dirty="0"/>
          </a:p>
          <a:p>
            <a:pPr>
              <a:spcAft>
                <a:spcPts val="900"/>
              </a:spcAft>
              <a:defRPr sz="2000">
                <a:solidFill>
                  <a:srgbClr val="1C2434"/>
                </a:solidFill>
              </a:defRPr>
            </a:pPr>
            <a:r>
              <a:rPr dirty="0"/>
              <a:t>Audit </a:t>
            </a:r>
            <a:endParaRPr lang="es-PE" dirty="0"/>
          </a:p>
          <a:p>
            <a:pPr>
              <a:spcAft>
                <a:spcPts val="900"/>
              </a:spcAft>
              <a:defRPr sz="2000">
                <a:solidFill>
                  <a:srgbClr val="1C2434"/>
                </a:solidFill>
              </a:defRPr>
            </a:pPr>
            <a:r>
              <a:rPr dirty="0"/>
              <a:t>→ traceability</a:t>
            </a:r>
          </a:p>
        </p:txBody>
      </p:sp>
      <p:sp>
        <p:nvSpPr>
          <p:cNvPr id="6" name="TextBox 5"/>
          <p:cNvSpPr txBox="1"/>
          <p:nvPr/>
        </p:nvSpPr>
        <p:spPr>
          <a:xfrm>
            <a:off x="502920" y="6446520"/>
            <a:ext cx="10972800" cy="182880"/>
          </a:xfrm>
          <a:prstGeom prst="rect">
            <a:avLst/>
          </a:prstGeom>
          <a:noFill/>
        </p:spPr>
        <p:txBody>
          <a:bodyPr wrap="none">
            <a:spAutoFit/>
          </a:bodyPr>
          <a:lstStyle/>
          <a:p>
            <a:r>
              <a:rPr sz="900">
                <a:solidFill>
                  <a:srgbClr val="656D78"/>
                </a:solidFill>
              </a:rPr>
              <a:t>Slide 7 | Sources: fig/dashboard/dashboard_v1_4.png; fig/dashboard/dashboard_v1_5.png</a:t>
            </a:r>
          </a:p>
        </p:txBody>
      </p:sp>
      <p:pic>
        <p:nvPicPr>
          <p:cNvPr id="8" name="Imagen 7">
            <a:extLst>
              <a:ext uri="{FF2B5EF4-FFF2-40B4-BE49-F238E27FC236}">
                <a16:creationId xmlns:a16="http://schemas.microsoft.com/office/drawing/2014/main" id="{BFC3CC36-F7D8-EC1F-7BD9-60530B576FA4}"/>
              </a:ext>
            </a:extLst>
          </p:cNvPr>
          <p:cNvPicPr>
            <a:picLocks noChangeAspect="1"/>
          </p:cNvPicPr>
          <p:nvPr/>
        </p:nvPicPr>
        <p:blipFill>
          <a:blip r:embed="rId3"/>
          <a:stretch>
            <a:fillRect/>
          </a:stretch>
        </p:blipFill>
        <p:spPr>
          <a:xfrm>
            <a:off x="2961973" y="1170432"/>
            <a:ext cx="8842931" cy="525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Results</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Engineering constraints matter</a:t>
            </a:r>
          </a:p>
        </p:txBody>
      </p:sp>
      <p:sp>
        <p:nvSpPr>
          <p:cNvPr id="4" name="TextBox 3"/>
          <p:cNvSpPr txBox="1"/>
          <p:nvPr/>
        </p:nvSpPr>
        <p:spPr>
          <a:xfrm>
            <a:off x="685800" y="1463040"/>
            <a:ext cx="4251960" cy="3749039"/>
          </a:xfrm>
          <a:prstGeom prst="rect">
            <a:avLst/>
          </a:prstGeom>
          <a:noFill/>
        </p:spPr>
        <p:txBody>
          <a:bodyPr wrap="square">
            <a:spAutoFit/>
          </a:bodyPr>
          <a:lstStyle/>
          <a:p>
            <a:pPr>
              <a:spcAft>
                <a:spcPts val="900"/>
              </a:spcAft>
              <a:defRPr sz="2000">
                <a:solidFill>
                  <a:srgbClr val="1C2434"/>
                </a:solidFill>
              </a:defRPr>
            </a:pPr>
            <a:r>
              <a:t>GRU → best accuracy</a:t>
            </a:r>
          </a:p>
          <a:p>
            <a:pPr>
              <a:spcAft>
                <a:spcPts val="900"/>
              </a:spcAft>
              <a:defRPr sz="2000">
                <a:solidFill>
                  <a:srgbClr val="1C2434"/>
                </a:solidFill>
              </a:defRPr>
            </a:pPr>
            <a:r>
              <a:t>RF → best system behavior</a:t>
            </a:r>
          </a:p>
          <a:p>
            <a:pPr>
              <a:spcAft>
                <a:spcPts val="900"/>
              </a:spcAft>
              <a:defRPr sz="2000">
                <a:solidFill>
                  <a:srgbClr val="1C2434"/>
                </a:solidFill>
              </a:defRPr>
            </a:pPr>
            <a:r>
              <a:t>Best model ≠ deployed model</a:t>
            </a:r>
          </a:p>
          <a:p>
            <a:pPr>
              <a:spcAft>
                <a:spcPts val="900"/>
              </a:spcAft>
              <a:defRPr sz="2000">
                <a:solidFill>
                  <a:srgbClr val="1C2434"/>
                </a:solidFill>
              </a:defRPr>
            </a:pPr>
            <a:r>
              <a:t>PHM quality is not RMSE alone</a:t>
            </a:r>
          </a:p>
        </p:txBody>
      </p:sp>
      <p:pic>
        <p:nvPicPr>
          <p:cNvPr id="5" name="Picture 4" descr="model_tradeoff.png"/>
          <p:cNvPicPr>
            <a:picLocks noChangeAspect="1"/>
          </p:cNvPicPr>
          <p:nvPr/>
        </p:nvPicPr>
        <p:blipFill>
          <a:blip r:embed="rId3"/>
          <a:stretch>
            <a:fillRect/>
          </a:stretch>
        </p:blipFill>
        <p:spPr>
          <a:xfrm>
            <a:off x="5303520" y="1417320"/>
            <a:ext cx="6126480" cy="3579882"/>
          </a:xfrm>
          <a:prstGeom prst="rect">
            <a:avLst/>
          </a:prstGeom>
        </p:spPr>
      </p:pic>
      <p:sp>
        <p:nvSpPr>
          <p:cNvPr id="6" name="Rounded Rectangle 5"/>
          <p:cNvSpPr/>
          <p:nvPr/>
        </p:nvSpPr>
        <p:spPr>
          <a:xfrm>
            <a:off x="5989320" y="5257800"/>
            <a:ext cx="4114800" cy="411480"/>
          </a:xfrm>
          <a:prstGeom prst="roundRect">
            <a:avLst/>
          </a:prstGeom>
          <a:solidFill>
            <a:srgbClr val="B54141"/>
          </a:solidFill>
          <a:ln>
            <a:solidFill>
              <a:srgbClr val="B5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Best model ≠ deployed model</a:t>
            </a:r>
          </a:p>
        </p:txBody>
      </p:sp>
      <p:sp>
        <p:nvSpPr>
          <p:cNvPr id="7" name="TextBox 6"/>
          <p:cNvSpPr txBox="1"/>
          <p:nvPr/>
        </p:nvSpPr>
        <p:spPr>
          <a:xfrm>
            <a:off x="502920" y="6446520"/>
            <a:ext cx="10972800" cy="182880"/>
          </a:xfrm>
          <a:prstGeom prst="rect">
            <a:avLst/>
          </a:prstGeom>
          <a:noFill/>
        </p:spPr>
        <p:txBody>
          <a:bodyPr wrap="none">
            <a:spAutoFit/>
          </a:bodyPr>
          <a:lstStyle/>
          <a:p>
            <a:r>
              <a:rPr sz="900">
                <a:solidFill>
                  <a:srgbClr val="656D78"/>
                </a:solidFill>
              </a:rPr>
              <a:t>Slide 8 | Sources: out/predictive_layer/champion_record.json; out/predictive_layer/04_metrics_global_by_model.csv</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Scenarios</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Interpretability through what-if analysis</a:t>
            </a:r>
          </a:p>
        </p:txBody>
      </p:sp>
      <p:sp>
        <p:nvSpPr>
          <p:cNvPr id="4" name="TextBox 3"/>
          <p:cNvSpPr txBox="1"/>
          <p:nvPr/>
        </p:nvSpPr>
        <p:spPr>
          <a:xfrm>
            <a:off x="685800" y="1554480"/>
            <a:ext cx="4297680" cy="3657600"/>
          </a:xfrm>
          <a:prstGeom prst="rect">
            <a:avLst/>
          </a:prstGeom>
          <a:noFill/>
        </p:spPr>
        <p:txBody>
          <a:bodyPr wrap="square">
            <a:spAutoFit/>
          </a:bodyPr>
          <a:lstStyle/>
          <a:p>
            <a:pPr>
              <a:spcAft>
                <a:spcPts val="900"/>
              </a:spcAft>
              <a:defRPr sz="2000">
                <a:solidFill>
                  <a:srgbClr val="1C2434"/>
                </a:solidFill>
              </a:defRPr>
            </a:pPr>
            <a:r>
              <a:t>Example: ΔRUL ≈ 0</a:t>
            </a:r>
          </a:p>
          <a:p>
            <a:pPr>
              <a:spcAft>
                <a:spcPts val="900"/>
              </a:spcAft>
              <a:defRPr sz="2000">
                <a:solidFill>
                  <a:srgbClr val="1C2434"/>
                </a:solidFill>
              </a:defRPr>
            </a:pPr>
            <a:r>
              <a:t>Risk unchanged</a:t>
            </a:r>
          </a:p>
          <a:p>
            <a:pPr>
              <a:spcAft>
                <a:spcPts val="900"/>
              </a:spcAft>
              <a:defRPr sz="2000">
                <a:solidFill>
                  <a:srgbClr val="1C2434"/>
                </a:solidFill>
              </a:defRPr>
            </a:pPr>
            <a:r>
              <a:t>Not all changes matter</a:t>
            </a:r>
          </a:p>
          <a:p>
            <a:pPr>
              <a:spcAft>
                <a:spcPts val="900"/>
              </a:spcAft>
              <a:defRPr sz="2000">
                <a:solidFill>
                  <a:srgbClr val="1C2434"/>
                </a:solidFill>
              </a:defRPr>
            </a:pPr>
            <a:r>
              <a:t>The system reveals sensitivity, not just prediction</a:t>
            </a:r>
          </a:p>
        </p:txBody>
      </p:sp>
      <p:pic>
        <p:nvPicPr>
          <p:cNvPr id="5" name="Picture 4" descr="scenario_chart.png"/>
          <p:cNvPicPr>
            <a:picLocks noChangeAspect="1"/>
          </p:cNvPicPr>
          <p:nvPr/>
        </p:nvPicPr>
        <p:blipFill>
          <a:blip r:embed="rId3"/>
          <a:stretch>
            <a:fillRect/>
          </a:stretch>
        </p:blipFill>
        <p:spPr>
          <a:xfrm>
            <a:off x="5303520" y="1508760"/>
            <a:ext cx="5943600" cy="3329990"/>
          </a:xfrm>
          <a:prstGeom prst="rect">
            <a:avLst/>
          </a:prstGeom>
        </p:spPr>
      </p:pic>
      <p:sp>
        <p:nvSpPr>
          <p:cNvPr id="6" name="TextBox 5"/>
          <p:cNvSpPr txBox="1"/>
          <p:nvPr/>
        </p:nvSpPr>
        <p:spPr>
          <a:xfrm>
            <a:off x="502920" y="6446520"/>
            <a:ext cx="10972800" cy="182880"/>
          </a:xfrm>
          <a:prstGeom prst="rect">
            <a:avLst/>
          </a:prstGeom>
          <a:noFill/>
        </p:spPr>
        <p:txBody>
          <a:bodyPr wrap="none">
            <a:spAutoFit/>
          </a:bodyPr>
          <a:lstStyle/>
          <a:p>
            <a:r>
              <a:rPr sz="900">
                <a:solidFill>
                  <a:srgbClr val="656D78"/>
                </a:solidFill>
              </a:rPr>
              <a:t>Slide 9 | Sources: out/agent_layer/05_scenario_examples.json; data/test_input_reference.md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3E8"/>
        </a:solidFill>
        <a:effectLst/>
      </p:bgPr>
    </p:bg>
    <p:spTree>
      <p:nvGrpSpPr>
        <p:cNvPr id="1" name=""/>
        <p:cNvGrpSpPr/>
        <p:nvPr/>
      </p:nvGrpSpPr>
      <p:grpSpPr>
        <a:xfrm>
          <a:off x="0" y="0"/>
          <a:ext cx="0" cy="0"/>
          <a:chOff x="0" y="0"/>
          <a:chExt cx="0" cy="0"/>
        </a:xfrm>
      </p:grpSpPr>
      <p:sp>
        <p:nvSpPr>
          <p:cNvPr id="2" name="TextBox 1"/>
          <p:cNvSpPr txBox="1"/>
          <p:nvPr/>
        </p:nvSpPr>
        <p:spPr>
          <a:xfrm>
            <a:off x="594360" y="365760"/>
            <a:ext cx="10972800" cy="457200"/>
          </a:xfrm>
          <a:prstGeom prst="rect">
            <a:avLst/>
          </a:prstGeom>
          <a:noFill/>
        </p:spPr>
        <p:txBody>
          <a:bodyPr wrap="none">
            <a:spAutoFit/>
          </a:bodyPr>
          <a:lstStyle/>
          <a:p>
            <a:r>
              <a:rPr sz="2800" b="1">
                <a:solidFill>
                  <a:srgbClr val="1C2434"/>
                </a:solidFill>
              </a:rPr>
              <a:t>Conclusion</a:t>
            </a:r>
          </a:p>
        </p:txBody>
      </p:sp>
      <p:sp>
        <p:nvSpPr>
          <p:cNvPr id="3" name="TextBox 2"/>
          <p:cNvSpPr txBox="1"/>
          <p:nvPr/>
        </p:nvSpPr>
        <p:spPr>
          <a:xfrm>
            <a:off x="621792" y="868680"/>
            <a:ext cx="10515600" cy="320040"/>
          </a:xfrm>
          <a:prstGeom prst="rect">
            <a:avLst/>
          </a:prstGeom>
          <a:noFill/>
        </p:spPr>
        <p:txBody>
          <a:bodyPr wrap="none">
            <a:spAutoFit/>
          </a:bodyPr>
          <a:lstStyle/>
          <a:p>
            <a:r>
              <a:rPr sz="1400">
                <a:solidFill>
                  <a:srgbClr val="656D78"/>
                </a:solidFill>
              </a:rPr>
              <a:t>A deployable PHM system, not just a model</a:t>
            </a:r>
          </a:p>
        </p:txBody>
      </p:sp>
      <p:sp>
        <p:nvSpPr>
          <p:cNvPr id="4" name="TextBox 3"/>
          <p:cNvSpPr txBox="1"/>
          <p:nvPr/>
        </p:nvSpPr>
        <p:spPr>
          <a:xfrm>
            <a:off x="777240" y="1554480"/>
            <a:ext cx="9875520" cy="4389120"/>
          </a:xfrm>
          <a:prstGeom prst="rect">
            <a:avLst/>
          </a:prstGeom>
          <a:noFill/>
        </p:spPr>
        <p:txBody>
          <a:bodyPr wrap="square">
            <a:spAutoFit/>
          </a:bodyPr>
          <a:lstStyle/>
          <a:p>
            <a:pPr>
              <a:spcAft>
                <a:spcPts val="900"/>
              </a:spcAft>
              <a:defRPr sz="2000">
                <a:solidFill>
                  <a:srgbClr val="1C2434"/>
                </a:solidFill>
              </a:defRPr>
            </a:pPr>
            <a:r>
              <a:t>Calibrated prediction</a:t>
            </a:r>
          </a:p>
          <a:p>
            <a:pPr>
              <a:spcAft>
                <a:spcPts val="900"/>
              </a:spcAft>
              <a:defRPr sz="2000">
                <a:solidFill>
                  <a:srgbClr val="1C2434"/>
                </a:solidFill>
              </a:defRPr>
            </a:pPr>
            <a:r>
              <a:t>Deterministic decisions</a:t>
            </a:r>
          </a:p>
          <a:p>
            <a:pPr>
              <a:spcAft>
                <a:spcPts val="900"/>
              </a:spcAft>
              <a:defRPr sz="2000">
                <a:solidFill>
                  <a:srgbClr val="1C2434"/>
                </a:solidFill>
              </a:defRPr>
            </a:pPr>
            <a:r>
              <a:t>Traceability and auditability</a:t>
            </a:r>
          </a:p>
          <a:p>
            <a:pPr>
              <a:spcAft>
                <a:spcPts val="900"/>
              </a:spcAft>
              <a:defRPr sz="2000">
                <a:solidFill>
                  <a:srgbClr val="1C2434"/>
                </a:solidFill>
              </a:defRPr>
            </a:pPr>
            <a:r>
              <a:t>Main lesson: PHM quality ≠ RMSE alone</a:t>
            </a:r>
          </a:p>
        </p:txBody>
      </p:sp>
      <p:sp>
        <p:nvSpPr>
          <p:cNvPr id="5" name="TextBox 4"/>
          <p:cNvSpPr txBox="1"/>
          <p:nvPr/>
        </p:nvSpPr>
        <p:spPr>
          <a:xfrm>
            <a:off x="502920" y="6446520"/>
            <a:ext cx="10972800" cy="182880"/>
          </a:xfrm>
          <a:prstGeom prst="rect">
            <a:avLst/>
          </a:prstGeom>
          <a:noFill/>
        </p:spPr>
        <p:txBody>
          <a:bodyPr wrap="none">
            <a:spAutoFit/>
          </a:bodyPr>
          <a:lstStyle/>
          <a:p>
            <a:r>
              <a:rPr sz="900">
                <a:solidFill>
                  <a:srgbClr val="656D78"/>
                </a:solidFill>
              </a:rPr>
              <a:t>Slide 10 | Sources: doc/paper/main.tex; doc/paper/04_conclusion.md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954</Words>
  <Application>Microsoft Office PowerPoint</Application>
  <PresentationFormat>Panorámica</PresentationFormat>
  <Paragraphs>90</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Victor Daniel Camarena Perez</cp:lastModifiedBy>
  <cp:revision>3</cp:revision>
  <dcterms:created xsi:type="dcterms:W3CDTF">2013-01-27T09:14:16Z</dcterms:created>
  <dcterms:modified xsi:type="dcterms:W3CDTF">2026-04-19T19:10:35Z</dcterms:modified>
  <cp:category/>
</cp:coreProperties>
</file>