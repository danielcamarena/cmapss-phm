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2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by framing the project as both a PHM study and a working AI system.</a:t>
            </a:r>
          </a:p>
          <a:p>
            <a:r>
              <a:t>Sources: doc/paper/main.tex;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motivate the move from model-only research to system-level PHM support.</a:t>
            </a:r>
          </a:p>
          <a:p>
            <a:r>
              <a:t>Sources: doc/paper/main.tex; doc/paper/04_discussion.md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benchmark and remind the audience this is a cycle-based degradation problem.</a:t>
            </a:r>
          </a:p>
          <a:p>
            <a:r>
              <a:t>Sources: data/readme.txt; doc/paper/main.tex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the contribution split explicit: prediction, decision support, user interface, and traceability.</a:t>
            </a:r>
          </a:p>
          <a:p>
            <a:r>
              <a:t>Sources: doc/paper/main.tex; doc/paper/03_results.md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layer boundaries and stress that contracts and service states are explicit.</a:t>
            </a:r>
          </a:p>
          <a:p>
            <a:r>
              <a:t>Sources: doc/paper/main.tex; out/dashboard_layer/01_ui_backend_contract_v1.json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practical: feature selection, scaling, and target policy are what matter for the deployed system.</a:t>
            </a:r>
          </a:p>
          <a:p>
            <a:r>
              <a:t>Sources: out/eda/05_preprocessing_config.json; out/eda/04_target_definition.txt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main lesson is that the best benchmark model was not automatically the best deployed system model.</a:t>
            </a:r>
          </a:p>
          <a:p>
            <a:r>
              <a:t>Sources: out/predictive_layer/champion_record.json; out/predictive_layer/04_metrics_global_by_model.csv; out/predictive_layer/04_latency_by_model.csv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the decision layer remains deterministic even when an LLM is available.</a:t>
            </a:r>
          </a:p>
          <a:p>
            <a:r>
              <a:t>Sources: src/agent_layer/risk_engine.py; src/agent_layer/orchestrator.py; out/agent_layer/06_scenario_assistant_policy.txt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screenshots as evidence that the integrated system is implemented, not only described.</a:t>
            </a:r>
          </a:p>
          <a:p>
            <a:r>
              <a:t>Sources: fig/dashboard/dashboard_v1_4.png; fig/dashboard/dashboard_v1_5.png; fig/dashboard/dashboard_v1_8.png; fig/dashboard/dashboard_v1_9.png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framing evidence-based: show both performance and deployability tradeoffs.</a:t>
            </a:r>
          </a:p>
          <a:p>
            <a:r>
              <a:t>Sources: out/predictive_layer/04_metrics_global_by_model.csv; out/predictive_layer/04_metrics_by_dataset_by_model.csv; out/predictive_layer/04_latency_by_model.csv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low-impact scenario outcomes are often a model-feature and local-sensitivity issue, not a parser failure.</a:t>
            </a:r>
          </a:p>
          <a:p>
            <a:r>
              <a:t>Sources: out/agent_layer/05_scenario_examples.json; data/test_input_reference.md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where the engineering maturity of the project should become obvious.</a:t>
            </a:r>
          </a:p>
          <a:p>
            <a:r>
              <a:t>Sources: out/agent_layer/08_failure_modes.txt; out/predictive_layer/08_deploy_checklist.txt; out/dashboard_layer/08_state_handling_guide.txt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explicit and honest here; it strengthens the credibility of the rest of the deck.</a:t>
            </a:r>
          </a:p>
          <a:p>
            <a:r>
              <a:t>Sources: doc/paper/04_discussion.md; out/predictive_layer/08_residual_risks.md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joining the scientific and engineering contributions into one claim.</a:t>
            </a:r>
          </a:p>
          <a:p>
            <a:r>
              <a:t>Sources: doc/paper/main.tex; doc/paper/04_conclusion.md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5974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1C2434"/>
                </a:solidFill>
              </a:rPr>
              <a:t>Predictive Maintenance for NASA C-MAPSS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65470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dirty="0">
                <a:solidFill>
                  <a:srgbClr val="5D636D"/>
                </a:solidFill>
              </a:rPr>
              <a:t>An end-to-end PHM application with calibrated RUL prediction, risk logic, and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583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Benchmark: NASA C-MAPSS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System: Predictive Layer -&gt; Agent Layer -&gt; Dashboard Layer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Focus: deployable PHM decision support rather than benchmark scores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828800"/>
            <a:ext cx="3383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885E24"/>
                </a:solidFill>
              </a:rPr>
              <a:t>CMAPSS PHM
Presentation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33764" y="4023360"/>
            <a:ext cx="9348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>
                <a:solidFill>
                  <a:srgbClr val="5D636D"/>
                </a:solidFill>
              </a:rPr>
              <a:t>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 | Sources: doc/paper/main.tex; 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Motivation and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Why point RUL prediction alone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Maintenance decisions require uncertainty, severity, and actionability.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Benchmark optimization does not automatically produce a usable PHM application.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This project closes that gap with calibrated prediction, deterministic decision logic, and traceable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2 | Sources: doc/paper/main.tex; doc/paper/04_discussion.md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2389706-CF86-9BB6-8FE6-5AF1BBB94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120" y="1166400"/>
            <a:ext cx="6480000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58BEDAA-A2EC-F3A4-70A2-BAE5C892C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676" y="3527029"/>
            <a:ext cx="9920659" cy="288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NASA C-MAPSS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Run-to-failure trajectories across four benchmark subsets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4454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FD001-FD004 vary in operating conditions and fault complexity.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Each unit is a multivariate cycle trajectory with operational settings and sensor measurements.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The task is to estimate Remaining Useful Life before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3 | Sources: data/readme.txt; doc/paper/main.tex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32094C-19AA-BFF4-18FA-B63A000B4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003" y="200388"/>
            <a:ext cx="4837005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Project Objectives and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What this system adds beyond benchmark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 calibrated predictive layer with frozen preprocessing and champion selection.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 deterministic agent layer for risk, recommendation, and scenario comparison.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 dashboard with Summary, Analysis, Scenarios, and Technical Audit workflows.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A reproducible artifact chain linking data, code, models, contracts, and audit traces.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4 | Sources: doc/paper/main.tex; doc/paper/03_results.md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Contract-driven Predictive -&gt; Agent -&gt; Dashboard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dashboard collects manual or CSV-driven requests.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agent layer trims payloads, computes deterministic risk and recommendations, and manages scenarios.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predictive layer serves the champion model with a calibrated confidence band and trace metadata.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5 | Sources: doc/paper/main.tex; out/dashboard_layer/01_ui_backend_contract_v1.json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7634026-5677-7FB0-45D9-D1A21224E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338964"/>
            <a:ext cx="8879466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Data and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From raw C-MAPSS rows to model-ready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The deployed predictive model uses 16 selected features after low-variance filtering.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Training uses a training-only </a:t>
            </a:r>
            <a:r>
              <a:rPr dirty="0" err="1"/>
              <a:t>StandardScaler</a:t>
            </a:r>
            <a:r>
              <a:rPr dirty="0"/>
              <a:t> reused at serving time.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The operational target is capped RUL with cap 125, while raw RUL remains available for audit and ablations.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D636D"/>
                </a:solidFill>
              </a:rPr>
              <a:t>Slide 6 | Sources: out/</a:t>
            </a:r>
            <a:r>
              <a:rPr sz="1000" b="0" dirty="0" err="1">
                <a:solidFill>
                  <a:srgbClr val="5D636D"/>
                </a:solidFill>
              </a:rPr>
              <a:t>eda</a:t>
            </a:r>
            <a:r>
              <a:rPr sz="1000" b="0" dirty="0">
                <a:solidFill>
                  <a:srgbClr val="5D636D"/>
                </a:solidFill>
              </a:rPr>
              <a:t>/05_preprocessing_config.json; out/</a:t>
            </a:r>
            <a:r>
              <a:rPr sz="1000" b="0" dirty="0" err="1">
                <a:solidFill>
                  <a:srgbClr val="5D636D"/>
                </a:solidFill>
              </a:rPr>
              <a:t>eda</a:t>
            </a:r>
            <a:r>
              <a:rPr sz="1000" b="0" dirty="0">
                <a:solidFill>
                  <a:srgbClr val="5D636D"/>
                </a:solidFill>
              </a:rPr>
              <a:t>/04_target_definition.txt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Predictive Layer and Champion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RF deployed despite GRU best raw RMSE (17.42 vs RF 18.31)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Candidate models: RF, HGB, LSTM, and GRU.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Champion: rf | Fallback: hgb.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Selection reason: Best stable baseline selected for integration readiness.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deployed choice balances quality, stability spread, latency, and integration readiness.</a:t>
            </a:r>
          </a:p>
        </p:txBody>
      </p:sp>
      <p:pic>
        <p:nvPicPr>
          <p:cNvPr id="5" name="Picture 4" descr="global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80160"/>
            <a:ext cx="2834640" cy="1418997"/>
          </a:xfrm>
          <a:prstGeom prst="rect">
            <a:avLst/>
          </a:prstGeom>
        </p:spPr>
      </p:pic>
      <p:pic>
        <p:nvPicPr>
          <p:cNvPr id="6" name="Picture 5" descr="latency_trad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280160"/>
            <a:ext cx="2834640" cy="14997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7 | Sources: out/predictive_layer/champion_record.json; out/predictive_layer/04_metrics_global_by_model.csv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Agent Layer and Deterministic 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How RUL becomes risk, recommendations, and auditable scenario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Risk logic uses predicted RUL, confidence-band width, and service status.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Recommendations are deterministic and aligned with the risk state.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LLM is optional and non-central: it may assist interpretation, but never controls execution or comparison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8 | Sources: src/agent_layer/risk_engine.py; src/agent_layer/orchestrator.py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Dashboard Layer and 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The UI operationalizes prediction, explanation, scenarios, and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Summary: decision-level RUL, risk, urgency, and action.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Analysis: explanation, uncertainty, temporal behavior, and fleet context.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Scenarios: deterministic baseline-vs-scenario comparison.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rPr dirty="0"/>
              <a:t>Technical Audit: trace fields, model version, service state, and contracts.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1234440"/>
            <a:ext cx="3337560" cy="18773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21040" y="1234440"/>
            <a:ext cx="3337560" cy="18773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3440" y="3794760"/>
            <a:ext cx="3337560" cy="18773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21040" y="3794760"/>
            <a:ext cx="3337560" cy="18773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9 | Sources: fig/dashboard/dashboard_v1_4.png; fig/dashboard/dashboard_v1_5.png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Experiments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Evidence combines prediction quality, stability, and engineering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Global metrics: GRU best raw RMSE; RF strongest stable tabular baseline.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Per-dataset metrics show why stability spread matters for deployment.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Latency and fallback behavior are treated as first-class engineering evidence.</a:t>
            </a:r>
          </a:p>
        </p:txBody>
      </p:sp>
      <p:pic>
        <p:nvPicPr>
          <p:cNvPr id="5" name="Picture 4" descr="global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80160"/>
            <a:ext cx="2834640" cy="1418997"/>
          </a:xfrm>
          <a:prstGeom prst="rect">
            <a:avLst/>
          </a:prstGeom>
        </p:spPr>
      </p:pic>
      <p:pic>
        <p:nvPicPr>
          <p:cNvPr id="6" name="Picture 5" descr="latency_trad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280160"/>
            <a:ext cx="2834640" cy="14997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10 | Sources: out/predictive_layer/04_metrics_global_by_model.csv; out/predictive_layer/04_metrics_by_dataset_by_model.csv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Scenarios and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Deterministic what-if analysis with optional non-central LLM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Scenario parsing is deterministic-first and only uses the LLM as a fallback for intent interpretation.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Example scenario: baseline vs scenario delta RUL = -0.081 cycles.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Risk score remained 35 -&gt; 35, showing how some edits have low local impact.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This makes scenario outputs useful for comparative sensitivity analysis rather than speculative control.</a:t>
            </a:r>
          </a:p>
        </p:txBody>
      </p:sp>
      <p:pic>
        <p:nvPicPr>
          <p:cNvPr id="5" name="Picture 4" descr="scenario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80160"/>
            <a:ext cx="2834640" cy="1418997"/>
          </a:xfrm>
          <a:prstGeom prst="rect">
            <a:avLst/>
          </a:prstGeom>
        </p:spPr>
      </p:pic>
      <p:pic>
        <p:nvPicPr>
          <p:cNvPr id="6" name="Picture 5" descr="dashboard_v1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280160"/>
            <a:ext cx="2834640" cy="1594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11 | Sources: out/agent_layer/05_scenario_examples.json; data/test_input_reference.md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Engineering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Deployment decisions were shaped by cost, latency, safety, reliability, and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Cost: the LLM remains optional and non-central.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Latency: the deployed RF path is simple and fast to serve.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Safety: validation rules and protected identifiers constrain scenario execution.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Reliability: explicit fallback and service-state propagation are surfaced end-to-end.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Traceability: audit records and contracts support debugging and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12 | Sources: out/agent_layer/08_failure_modes.txt; out/predictive_layer/08_deploy_checklist.txt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What the current system does well and where it still needs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deployed champion is a single-row tabular model rather than a temporal serving model.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Some scenario edits have low local sensitivity because they target non-features or weak local directions.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The confidence-band policy is useful but relatively simple.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Future work: richer local explanation, broader scenario libraries, stronger fleet analytics, and live deployment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13 | Sources: doc/paper/04_discussion.md; out/predictive_layer/08_residual_risks.md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43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36D"/>
                </a:solidFill>
              </a:rPr>
              <a:t>The project demonstrates a deployable and traceable PHM system, not only a benchmark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Scientifically: calibrated RUL modeling with documented champion selection.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Engineering-wise: deterministic decision support, scenarios, and traceability integrated into one user-facing system.</a:t>
            </a:r>
          </a:p>
          <a:p>
            <a:pPr>
              <a:spcAft>
                <a:spcPts val="800"/>
              </a:spcAft>
              <a:defRPr sz="1900">
                <a:solidFill>
                  <a:srgbClr val="1C2434"/>
                </a:solidFill>
              </a:defRPr>
            </a:pPr>
            <a:r>
              <a:t>Main lesson: deployment quality depends on more than raw RMSE.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D636D"/>
                </a:solidFill>
              </a:rPr>
              <a:t>Slide 14 | Sources: doc/paper/main.tex; doc/paper/04_conclusion.md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1819</Words>
  <Application>Microsoft Office PowerPoint</Application>
  <PresentationFormat>Panorámica</PresentationFormat>
  <Paragraphs>121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Daniel Camarena Perez</cp:lastModifiedBy>
  <cp:revision>5</cp:revision>
  <dcterms:created xsi:type="dcterms:W3CDTF">2013-01-27T09:14:16Z</dcterms:created>
  <dcterms:modified xsi:type="dcterms:W3CDTF">2026-04-19T19:12:12Z</dcterms:modified>
  <cp:category/>
</cp:coreProperties>
</file>